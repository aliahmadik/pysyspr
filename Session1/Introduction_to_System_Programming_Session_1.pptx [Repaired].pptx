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22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ECADA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ECAD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8321040" y="914400"/>
            <a:ext cx="2011680" cy="2011680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2194560"/>
            <a:ext cx="1371600" cy="1371600"/>
          </a:xfrm>
          <a:prstGeom prst="ellipse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63840" y="3291840"/>
            <a:ext cx="914400" cy="914400"/>
          </a:xfrm>
          <a:prstGeom prst="ellipse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3931920"/>
            <a:ext cx="731520" cy="731520"/>
          </a:xfrm>
          <a:prstGeom prst="ellipse">
            <a:avLst/>
          </a:prstGeom>
          <a:solidFill>
            <a:srgbClr val="32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6949440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8FAFD"/>
                </a:solidFill>
                <a:latin typeface="Aptos"/>
              </a:defRPr>
            </a:pPr>
            <a:r>
              <a:t>Introduction to</a:t>
            </a:r>
          </a:p>
          <a:p>
            <a:pPr>
              <a:spcAft>
                <a:spcPts val="700"/>
              </a:spcAft>
              <a:defRPr sz="3600" b="1">
                <a:solidFill>
                  <a:srgbClr val="F8FAFD"/>
                </a:solidFill>
                <a:latin typeface="Aptos"/>
              </a:defRPr>
            </a:pPr>
            <a:r>
              <a:t>System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62179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D0DEF0"/>
                </a:solidFill>
                <a:latin typeface="Aptos"/>
              </a:defRPr>
            </a:pPr>
            <a:r>
              <a:t>How application software interacts with the operating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CBED2"/>
                </a:solidFill>
                <a:latin typeface="Aptos"/>
              </a:defRPr>
            </a:pPr>
            <a:r>
              <a:t>SESSION 1  |  90 MINUTES  | 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6400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ECADA"/>
                </a:solidFill>
                <a:latin typeface="Aptos"/>
              </a:defRPr>
            </a:pPr>
            <a:r>
              <a:t>Concepts • Demonstration • Guided exercise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Today’s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98480" cy="4480560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Distinguish system programming from application programming.</a:t>
            </a:r>
          </a:p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Explain user space, kernel space, system calls, and OS APIs.</a:t>
            </a:r>
          </a:p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Describe processes, threads, memory, files, and I/O at a high level.</a:t>
            </a:r>
          </a:p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Identify what Python makes easy—and where lower-level languages matter.</a:t>
            </a:r>
          </a:p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Use Python to inspect OS details, process IDs, the current directory, and environment variables.</a:t>
            </a:r>
          </a:p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Build and explain a small system-information 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607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869B4"/>
                </a:solidFill>
                <a:latin typeface="Aptos"/>
              </a:defRPr>
            </a:pPr>
            <a:r>
              <a:rPr dirty="0"/>
              <a:t>Success criterion: you can explain each output your script prints—not just copy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Opening question: what happens when you open a file?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466344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E34"/>
                </a:solidFill>
                <a:latin typeface="Aptos"/>
              </a:defRPr>
            </a:pPr>
            <a:r>
              <a:t>You click “Open” in an editor.</a:t>
            </a:r>
          </a:p>
          <a:p>
            <a:pPr>
              <a:spcAft>
                <a:spcPts val="700"/>
              </a:spcAft>
              <a:defRPr sz="2500" b="1">
                <a:solidFill>
                  <a:srgbClr val="111E34"/>
                </a:solidFill>
                <a:latin typeface="Aptos"/>
              </a:defRPr>
            </a:pPr>
            <a:r>
              <a:t>What must happen behind the scenes?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0" y="1234440"/>
            <a:ext cx="73152" cy="123444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44768" y="1380744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1801368"/>
            <a:ext cx="202996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The editor decides what the user wants.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23444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41080" y="1234440"/>
            <a:ext cx="73152" cy="123444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42248" y="1380744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Operating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1801368"/>
            <a:ext cx="202996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Checks access and coordinates resources.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83464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2834640"/>
            <a:ext cx="73152" cy="123444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4768" y="2980944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File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3401568"/>
            <a:ext cx="202996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Locates file data and metadata.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283464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41080" y="2834640"/>
            <a:ext cx="73152" cy="1234440"/>
          </a:xfrm>
          <a:prstGeom prst="rect">
            <a:avLst/>
          </a:prstGeom>
          <a:solidFill>
            <a:srgbClr val="32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42248" y="2980944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Storage 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3401568"/>
            <a:ext cx="202996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Reads blocks of data into memory.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1014984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869B4"/>
                </a:solidFill>
                <a:latin typeface="Aptos"/>
              </a:defRPr>
            </a:pPr>
            <a:r>
              <a:t>Key idea: applications rarely control hardware directly. They request services through operating-system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What is system programming?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60704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1E34"/>
                </a:solidFill>
                <a:latin typeface="Aptos"/>
              </a:defRPr>
            </a:pPr>
            <a:r>
              <a:t>System programming creates or uses software that works close to the operating system and manages computer resources.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73152" cy="219456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29514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15768"/>
            <a:ext cx="3081528" cy="1536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Shells and command-line tools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File utilities and backup tools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Process monitors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Network services and runtimes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73152" cy="219456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29514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Typical concerns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15768"/>
            <a:ext cx="3081528" cy="1536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Processes and threads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Files, sockets, and I/O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Memory and permissions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Reliability and resource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14884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2148840"/>
            <a:ext cx="73152" cy="219456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29514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715768"/>
            <a:ext cx="3081528" cy="1536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Understand failures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Automate administration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Build servers and tools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Diagnose performance issues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14984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System programming is about the boundary between software and the services/resources provided by the 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System programming vs. application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425196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380744"/>
            <a:ext cx="481888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Application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01368"/>
            <a:ext cx="4818888" cy="3593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Primary question: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“What should the software do for the user?”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Examples: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Student registration website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Photo editor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Inventory dashboard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Often built on libraries and OS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73152" cy="425196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380744"/>
            <a:ext cx="481888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System 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01368"/>
            <a:ext cx="4818888" cy="3593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Primary question: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“How does software use or provide system resources?”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Examples: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Process supervisor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File synchronization utility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Socket server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Runtime or device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F6E82"/>
                </a:solidFill>
                <a:latin typeface="Aptos"/>
              </a:defRPr>
            </a:pPr>
            <a:r>
              <a:t>The boundary is not absolute: application code can use OS APIs, and system tools can have user interfaces.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It is a continuum—not two sealed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201168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21671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User-facing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167128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Uses high-level frameworks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514600"/>
            <a:ext cx="310896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5F6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82880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11880" y="1828800"/>
            <a:ext cx="73152" cy="201168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13048" y="1975104"/>
            <a:ext cx="21671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Automation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395728"/>
            <a:ext cx="2167128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Uses files, processes,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514600"/>
            <a:ext cx="310896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5F6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82880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1828800"/>
            <a:ext cx="73152" cy="201168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7" y="1975104"/>
            <a:ext cx="21671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System utility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2395728"/>
            <a:ext cx="2167128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Manages OS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514600"/>
            <a:ext cx="310896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5F6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82880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72600" y="1828800"/>
            <a:ext cx="73152" cy="2011680"/>
          </a:xfrm>
          <a:prstGeom prst="rect">
            <a:avLst/>
          </a:prstGeom>
          <a:solidFill>
            <a:srgbClr val="32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73768" y="1975104"/>
            <a:ext cx="21671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Runtime / driver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395728"/>
            <a:ext cx="2167128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Very close to OS or 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1024128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11E34"/>
                </a:solidFill>
                <a:latin typeface="Aptos"/>
              </a:defRPr>
            </a:pPr>
            <a:r>
              <a:t>Our Python system-information script sits in the middle: it is a small automation tool that asks the OS for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The operating system: coordinator and gatekeeper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484632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11E34"/>
                </a:solidFill>
                <a:latin typeface="Aptos"/>
              </a:defRPr>
            </a:pPr>
            <a:r>
              <a:t>The OS coordinates shared resources and enforces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937760" cy="3291840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CPU time: which process runs next?</a:t>
            </a:r>
          </a:p>
          <a:p>
            <a:pPr>
              <a:spcAft>
                <a:spcPts val="11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Memory: which address space can access which data?</a:t>
            </a:r>
          </a:p>
          <a:p>
            <a:pPr>
              <a:spcAft>
                <a:spcPts val="11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Files: can this user read or write this path?</a:t>
            </a:r>
          </a:p>
          <a:p>
            <a:pPr>
              <a:spcAft>
                <a:spcPts val="11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Devices and network: how are I/O requests handled?</a:t>
            </a:r>
          </a:p>
          <a:p>
            <a:pPr>
              <a:spcAft>
                <a:spcPts val="11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Isolation: how are processes kept from interfering?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4297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73152" cy="77724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563624"/>
            <a:ext cx="395020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984248"/>
            <a:ext cx="3950208" cy="118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Browser • editor • Python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240280"/>
            <a:ext cx="914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82"/>
                </a:solidFill>
                <a:latin typeface="Aptos"/>
              </a:defRPr>
            </a:pPr>
            <a:r>
              <a:t>↓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06040"/>
            <a:ext cx="4297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606040"/>
            <a:ext cx="73152" cy="77724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2752344"/>
            <a:ext cx="395020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OS interfaces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172968"/>
            <a:ext cx="3950208" cy="118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Libraries • APIs • system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429000"/>
            <a:ext cx="914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82"/>
                </a:solidFill>
                <a:latin typeface="Aptos"/>
              </a:defRPr>
            </a:pPr>
            <a:r>
              <a:t>↓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94760"/>
            <a:ext cx="4297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794760"/>
            <a:ext cx="73152" cy="77724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3941064"/>
            <a:ext cx="395020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361688"/>
            <a:ext cx="3950208" cy="118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Scheduling • memory • drivers • filesystems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983480"/>
            <a:ext cx="40233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11E34"/>
                </a:solidFill>
                <a:latin typeface="Aptos"/>
              </a:defRPr>
            </a:pPr>
            <a:r>
              <a:t>Hardware: CPU • RAM • storage •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User space and kernel 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48920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73152" cy="324612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472184"/>
            <a:ext cx="45445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USER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92807"/>
            <a:ext cx="4544568" cy="2587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Where ordinary applications run.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Separate process address spaces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Limited direct access to hardware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Errors usually affect the process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Example: your Python interpreter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48920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325880"/>
            <a:ext cx="73152" cy="324612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1472184"/>
            <a:ext cx="45445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KERNEL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1892807"/>
            <a:ext cx="4544568" cy="2587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Privileged part of the operating system.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Manages core resources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Mediates access to devices and memory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Enforces isolation and permissions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A kernel failure can affect the whole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560320"/>
            <a:ext cx="82296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3200" b="1">
                <a:solidFill>
                  <a:srgbClr val="3CBED2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24128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11E34"/>
                </a:solidFill>
                <a:latin typeface="Aptos"/>
              </a:defRPr>
            </a:pPr>
            <a:r>
              <a:t>A system call is a controlled entry point from a user process into a kernel service—not a normal Python function 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OS API vs. system call: related, not identical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320040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80744"/>
            <a:ext cx="31272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1 · Your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01368"/>
            <a:ext cx="3127248" cy="2542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Example: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open("notes.txt", "r")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A Python-level operation.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331720"/>
            <a:ext cx="411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5F6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3444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234440"/>
            <a:ext cx="73152" cy="320040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4607" y="1380744"/>
            <a:ext cx="31272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2 · Library /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1801368"/>
            <a:ext cx="3127248" cy="2542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Python and its runtime translate the request into platform-specific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331720"/>
            <a:ext cx="411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5F6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234440"/>
            <a:ext cx="28346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95360" y="1234440"/>
            <a:ext cx="73152" cy="320040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96528" y="1380744"/>
            <a:ext cx="24871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3 · OS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1801368"/>
            <a:ext cx="2487168" cy="2542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May invoke one or more system calls; kernel performs the privileged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5156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32D3C"/>
                </a:solidFill>
                <a:latin typeface="Aptos"/>
              </a:defRPr>
            </a:pPr>
            <a:r>
              <a:t>An API is the interface exposed to a programmer. A system call is a mechanism for requesting a kernel service. One API operation may involve multiple calls—or none.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A concrete example: reading a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188720"/>
            <a:ext cx="530352" cy="530352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261872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225296"/>
            <a:ext cx="94183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Python code asks to open a path.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240280"/>
            <a:ext cx="530352" cy="530352"/>
          </a:xfrm>
          <a:prstGeom prst="ellipse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13432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276856"/>
            <a:ext cx="94183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The runtime / OS library checks arguments and requests OS services.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291839"/>
            <a:ext cx="530352" cy="530352"/>
          </a:xfrm>
          <a:prstGeom prst="ellipse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1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328415"/>
            <a:ext cx="94183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The OS checks path resolution, permissions, and file state.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530352" cy="530352"/>
          </a:xfrm>
          <a:prstGeom prst="ellipse">
            <a:avLst/>
          </a:prstGeom>
          <a:solidFill>
            <a:srgbClr val="32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416552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8FAF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379976"/>
            <a:ext cx="94183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Data is made available to the process; Python exposes it as a file object.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F6E82"/>
                </a:solidFill>
                <a:latin typeface="Aptos"/>
              </a:defRPr>
            </a:pPr>
            <a:r>
              <a:t>Teaching note: exact implementation details vary by OS and runtime.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Processes: running programs with their own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104241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1E34"/>
                </a:solidFill>
                <a:latin typeface="Aptos"/>
              </a:defRPr>
            </a:pPr>
            <a:r>
              <a:t>A process is an executing program plus OS-managed resources and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3246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011680"/>
            <a:ext cx="73152" cy="237744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157984"/>
            <a:ext cx="28986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A process 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578608"/>
            <a:ext cx="2898648" cy="1719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Process ID (PID)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Virtual address space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Open file handles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Security credentials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Execution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011680"/>
            <a:ext cx="3246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011680"/>
            <a:ext cx="73152" cy="237744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2157984"/>
            <a:ext cx="28986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Processes 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578608"/>
            <a:ext cx="2898648" cy="1719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Start child processes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Open files and sockets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Receive signals / termination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Run independently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11680"/>
            <a:ext cx="32461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011680"/>
            <a:ext cx="73152" cy="237744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157984"/>
            <a:ext cx="28986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578608"/>
            <a:ext cx="2898648" cy="1719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A program is code on disk.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A process is a running instance.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One program can have many processes.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14984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Example: opening two terminal windows may create two shell processes, even if both run the same shell program.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Threads: multiple paths of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4892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73152" cy="342900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472184"/>
            <a:ext cx="45445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Process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92807"/>
            <a:ext cx="4544568" cy="2770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Shared within a process: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Code and heap memory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Open resources (subject to OS/runtime rules)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Separate per thread: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Stack and execution state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Instruction pointer / registers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4892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325880"/>
            <a:ext cx="73152" cy="342900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472184"/>
            <a:ext cx="45445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Why use threads?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892807"/>
            <a:ext cx="4544568" cy="2770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Overlap waiting and work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Handle multiple client connections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Keep UI work responsive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Risks: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Race conditions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Deadlocks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Harder debugging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E34"/>
                </a:solidFill>
                <a:latin typeface="Aptos"/>
              </a:defRPr>
            </a:pPr>
            <a:r>
              <a:t>Python note: CPython’s GIL affects parallel execution of Python bytecode in many builds; threads are still useful for I/O-bound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Memory: each process needs a safe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43000"/>
            <a:ext cx="502920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11E34"/>
                </a:solidFill>
                <a:latin typeface="Aptos"/>
              </a:defRPr>
            </a:pPr>
            <a:r>
              <a:t>Think of virtual memory as a process-specific view of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2926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73152" cy="242316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112264"/>
            <a:ext cx="257860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Process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532888"/>
            <a:ext cx="2578608" cy="1764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Virtual address space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A process generally cannot read another process’s private memory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965960"/>
            <a:ext cx="2926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1965960"/>
            <a:ext cx="73152" cy="242316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2112264"/>
            <a:ext cx="257860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Process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532888"/>
            <a:ext cx="2578608" cy="1764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Separate virtual address space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The same virtual address can refer to different physical memory.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965960"/>
            <a:ext cx="35204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79" y="1965960"/>
            <a:ext cx="73152" cy="242316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9248" y="2112264"/>
            <a:ext cx="3172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OS /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532888"/>
            <a:ext cx="3172968" cy="1764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Memory mapping, protection, allocation, and paging are managed by the OS and hardware.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05840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Python manages objects for you, but memory is not unlimited: large data structures still consume 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Files and I/O: exchanging data with the world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338328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38074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01368"/>
            <a:ext cx="3081528" cy="2724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Persistent data and metadata.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Examples: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Text and CSV files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Configuration files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Logs and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338328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8074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I/O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01368"/>
            <a:ext cx="3081528" cy="2724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Input/output moves data between a program and an external resource.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Examples: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Disk reads/writes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Keyboard input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Terminal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23444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73152" cy="338328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38074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Other handles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801368"/>
            <a:ext cx="3081528" cy="2724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OS resources can also include: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Pipes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Sockets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Devices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Standard input/output/error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11E34"/>
                </a:solidFill>
                <a:latin typeface="Aptos"/>
              </a:defRPr>
            </a:pPr>
            <a:r>
              <a:t>A file object in Python is a convenient abstraction. The underlying OS uses platform-specific mechanisms and permissions.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Why use Python for system programming?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3474720"/>
          </a:xfrm>
          <a:prstGeom prst="rect">
            <a:avLst/>
          </a:prstGeom>
          <a:solidFill>
            <a:srgbClr val="32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380744"/>
            <a:ext cx="481888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01368"/>
            <a:ext cx="4818888" cy="2816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Readable, concise code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Standard library: os, sys, pathlib, subprocess, threading, socket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Fast to prototype and teach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Excellent for automation and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73152" cy="347472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380744"/>
            <a:ext cx="481888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Trade-offs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01368"/>
            <a:ext cx="4818888" cy="2816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Usually slower than compiled native code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Runtime abstracts away low-level details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Some APIs differ by operating system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Not every kernel / driver task is appropriate for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66360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11E34"/>
                </a:solidFill>
                <a:latin typeface="Aptos"/>
              </a:defRPr>
            </a:pPr>
            <a:r>
              <a:t>Rule of thumb: use Python to automate, inspect, coordinate, and build services; use lower-level tools when control or constraints demand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Python vs. C/C++: choose for the job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442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3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D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869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D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2869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D"/>
                          </a:solidFill>
                        </a:defRPr>
                      </a:pPr>
                      <a:r>
                        <a:t>C / C++</a:t>
                      </a:r>
                    </a:p>
                  </a:txBody>
                  <a:tcPr>
                    <a:solidFill>
                      <a:srgbClr val="28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D3C"/>
                          </a:solidFill>
                        </a:defRPr>
                      </a:pPr>
                      <a:r>
                        <a:t>Development speed</a:t>
                      </a:r>
                    </a:p>
                  </a:txBody>
                  <a:tcPr marR="73152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Often high</a:t>
                      </a:r>
                    </a:p>
                  </a:txBody>
                  <a:tcPr marR="73152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Usually more manual</a:t>
                      </a:r>
                    </a:p>
                  </a:txBody>
                  <a:tcPr marR="73152"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D3C"/>
                          </a:solidFill>
                        </a:defRPr>
                      </a:pPr>
                      <a:r>
                        <a:t>Runtime performance</a:t>
                      </a:r>
                    </a:p>
                  </a:txBody>
                  <a:tcPr marR="73152">
                    <a:solidFill>
                      <a:srgbClr val="E2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Often slower for CPU-heavy loops</a:t>
                      </a:r>
                    </a:p>
                  </a:txBody>
                  <a:tcPr marR="73152">
                    <a:solidFill>
                      <a:srgbClr val="E2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Often faster with compiled native code</a:t>
                      </a:r>
                    </a:p>
                  </a:txBody>
                  <a:tcPr marR="73152">
                    <a:solidFill>
                      <a:srgbClr val="E2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D3C"/>
                          </a:solidFill>
                        </a:defRPr>
                      </a:pPr>
                      <a:r>
                        <a:t>Memory management</a:t>
                      </a:r>
                    </a:p>
                  </a:txBody>
                  <a:tcPr marR="73152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Mostly automatic / runtime-managed</a:t>
                      </a:r>
                    </a:p>
                  </a:txBody>
                  <a:tcPr marR="73152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More direct control; more responsibility</a:t>
                      </a:r>
                    </a:p>
                  </a:txBody>
                  <a:tcPr marR="73152"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D3C"/>
                          </a:solidFill>
                        </a:defRPr>
                      </a:pPr>
                      <a:r>
                        <a:t>OS interfaces</a:t>
                      </a:r>
                    </a:p>
                  </a:txBody>
                  <a:tcPr marR="73152">
                    <a:solidFill>
                      <a:srgbClr val="E2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Standard library + extensions</a:t>
                      </a:r>
                    </a:p>
                  </a:txBody>
                  <a:tcPr marR="73152">
                    <a:solidFill>
                      <a:srgbClr val="E2E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Direct APIs, libraries, and native interfaces</a:t>
                      </a:r>
                    </a:p>
                  </a:txBody>
                  <a:tcPr marR="73152">
                    <a:solidFill>
                      <a:srgbClr val="E2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D3C"/>
                          </a:solidFill>
                        </a:defRPr>
                      </a:pPr>
                      <a:r>
                        <a:t>Best fit</a:t>
                      </a:r>
                    </a:p>
                  </a:txBody>
                  <a:tcPr marR="73152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Automation, tools, glue, services</a:t>
                      </a:r>
                    </a:p>
                  </a:txBody>
                  <a:tcPr marR="73152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D3C"/>
                          </a:solidFill>
                        </a:defRPr>
                      </a:pPr>
                      <a:r>
                        <a:t>Kernels, drivers, embedded / tight constraints</a:t>
                      </a:r>
                    </a:p>
                  </a:txBody>
                  <a:tcPr marR="73152"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486400"/>
            <a:ext cx="105156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F6E82"/>
                </a:solidFill>
                <a:latin typeface="Aptos"/>
              </a:defRPr>
            </a:pPr>
            <a:r>
              <a:t>These are tendencies, not laws: libraries, algorithms, and implementation choices matter.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Python modules we will use in this course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141732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38074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01368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OS-facing utilities, environment, paths, process IDs, directories.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141732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8074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01368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OS name, platform details, Python build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73152" cy="141732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38074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sys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801368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Python runtime, arguments, streams, interpreter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718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2971800"/>
            <a:ext cx="73152" cy="1417320"/>
          </a:xfrm>
          <a:prstGeom prst="rect">
            <a:avLst/>
          </a:prstGeom>
          <a:solidFill>
            <a:srgbClr val="32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311810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pathlib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538728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Object-oriented file and directory paths.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9718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2971800"/>
            <a:ext cx="73152" cy="141732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311810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subprocess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538728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Launch and communicate with external programs.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29718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2971800"/>
            <a:ext cx="73152" cy="141732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02168" y="3118104"/>
            <a:ext cx="30815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socket / threading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3538728"/>
            <a:ext cx="3081528" cy="7589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Network communication and concurrent 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29200"/>
            <a:ext cx="1033272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11E34"/>
                </a:solidFill>
                <a:latin typeface="Aptos"/>
              </a:defRPr>
            </a:pPr>
            <a:r>
              <a:t>Today: only os, platform, and sys. Later sessions will apply these concepts to processes, sockets, APIs, and concurrency.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Live demo: inspect the machine Python is running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4846320" cy="4297680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Open VS Code / terminal.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Create a file named system_info.py.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Run it with the same Python interpreter used in class.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Compare the output across Windows, macOS, or Linux.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• Ask: which values are OS-specific, and which are Python-specific?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5303520" cy="3474720"/>
          </a:xfrm>
          <a:prstGeom prst="roundRect">
            <a:avLst/>
          </a:prstGeom>
          <a:solidFill>
            <a:srgbClr val="111E34"/>
          </a:solidFill>
          <a:ln>
            <a:solidFill>
              <a:srgbClr val="3A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53912" y="1344168"/>
            <a:ext cx="4974336" cy="3255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import os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import platform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import sys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endParaRPr/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print('OS:', os.name)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print('Platform:', platform.platform())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print('Python:', sys.version.split()[0])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print('PID:', os.getpid())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print('Parent PID:', os.getppid())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print('Working directory:', os.getcwd())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4983480"/>
            <a:ext cx="512064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69B4"/>
                </a:solidFill>
                <a:latin typeface="Aptos"/>
              </a:defRPr>
            </a:pPr>
            <a:r>
              <a:t>Predict the output before running the script.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Read the code: where does each value come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2377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869B4"/>
                </a:solidFill>
                <a:latin typeface="Aptos"/>
              </a:defRPr>
            </a:pPr>
            <a:r>
              <a:t>os.name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143000"/>
            <a:ext cx="813816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Broad OS family identifier; commonly 'nt' on Windows and 'posix' on Unix-like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92807"/>
            <a:ext cx="2377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869B4"/>
                </a:solidFill>
                <a:latin typeface="Aptos"/>
              </a:defRPr>
            </a:pPr>
            <a:r>
              <a:t>platform.platform()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92807"/>
            <a:ext cx="813816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Human-readable platform string; exact format varies by machine.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5"/>
            <a:ext cx="2377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869B4"/>
                </a:solidFill>
                <a:latin typeface="Aptos"/>
              </a:defRPr>
            </a:pPr>
            <a:r>
              <a:t>sys.version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42615"/>
            <a:ext cx="813816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Python version and build details.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92424"/>
            <a:ext cx="2377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869B4"/>
                </a:solidFill>
                <a:latin typeface="Aptos"/>
              </a:defRPr>
            </a:pPr>
            <a:r>
              <a:t>os.getpid()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392424"/>
            <a:ext cx="813816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PID of the current Python process.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42231"/>
            <a:ext cx="2377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869B4"/>
                </a:solidFill>
                <a:latin typeface="Aptos"/>
              </a:defRPr>
            </a:pPr>
            <a:r>
              <a:t>os.getppid()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142231"/>
            <a:ext cx="813816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Parent process ID; behavior and meaning vary by 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2377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869B4"/>
                </a:solidFill>
                <a:latin typeface="Aptos"/>
              </a:defRPr>
            </a:pPr>
            <a:r>
              <a:t>os.getcwd()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892040"/>
            <a:ext cx="813816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Current working directory—not necessarily the script’s folder.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Environment variables: configuration passed to a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3327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11E34"/>
                </a:solidFill>
                <a:latin typeface="Aptos"/>
              </a:defRPr>
            </a:pPr>
            <a:r>
              <a:t>Environment variables are named values available to a process, often used for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73152" cy="228600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112264"/>
            <a:ext cx="299008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Common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32888"/>
            <a:ext cx="2990088" cy="1627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PATH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HOME or USERPROFILE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TEMP / TMP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USERNAME or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6596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965960"/>
            <a:ext cx="73152" cy="228600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2112264"/>
            <a:ext cx="299008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Read safely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532888"/>
            <a:ext cx="2990088" cy="1627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os.environ.get('PATH')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Use .get() so a missing variable returns None instead of raising KeyError.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73152" cy="2286000"/>
          </a:xfrm>
          <a:prstGeom prst="rect">
            <a:avLst/>
          </a:prstGeom>
          <a:solidFill>
            <a:srgbClr val="C8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112264"/>
            <a:ext cx="299008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Safety reminder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32888"/>
            <a:ext cx="2990088" cy="1627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Do not print secrets such as API keys, tokens, or passwords in logs or screenshots.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9966960" cy="960120"/>
          </a:xfrm>
          <a:prstGeom prst="roundRect">
            <a:avLst/>
          </a:prstGeom>
          <a:solidFill>
            <a:srgbClr val="111E34"/>
          </a:solidFill>
          <a:ln>
            <a:solidFill>
              <a:srgbClr val="3A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4727448"/>
            <a:ext cx="9637776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DFECFA"/>
                </a:solidFill>
                <a:latin typeface="Cascadia Code"/>
              </a:defRPr>
            </a:pPr>
            <a:r>
              <a:t>for key in ('PATH', 'HOME', 'USERPROFILE', 'TEMP'):</a:t>
            </a:r>
          </a:p>
          <a:p>
            <a:pPr>
              <a:spcAft>
                <a:spcPts val="200"/>
              </a:spcAft>
              <a:defRPr sz="1400">
                <a:solidFill>
                  <a:srgbClr val="DFECFA"/>
                </a:solidFill>
                <a:latin typeface="Cascadia Code"/>
              </a:defRPr>
            </a:pPr>
            <a:r>
              <a:t>    print(f'{key}: {os.environ.get(key, "&lt;not set&gt;")}')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058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F6E82"/>
                </a:solidFill>
                <a:latin typeface="Aptos"/>
              </a:defRPr>
            </a:pPr>
            <a:r>
              <a:t>Environment variables differ across OSes and user configurations.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Complete example: system_info.py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43000"/>
            <a:ext cx="6675120" cy="5029200"/>
          </a:xfrm>
          <a:prstGeom prst="roundRect">
            <a:avLst/>
          </a:prstGeom>
          <a:solidFill>
            <a:srgbClr val="111E34"/>
          </a:solidFill>
          <a:ln>
            <a:solidFill>
              <a:srgbClr val="3A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252728"/>
            <a:ext cx="6345936" cy="4809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import os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import platform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import sys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endParaRPr/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print("=== System Information ===")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print("OS family:", os.name)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print("OS/platform:", platform.platform())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print("Python version:", platform.python_version())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print("PID:", os.getpid())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print("Parent PID:", os.getppid())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print("Working directory:", os.getcwd())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endParaRPr/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print("\n=== Selected Environment Variables ===")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for key in ("PATH", "HOME", "USERPROFILE", "TEMP"):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    value = os.environ.get(key, "&lt;not set&gt;")</a:t>
            </a:r>
          </a:p>
          <a:p>
            <a:pPr>
              <a:spcAft>
                <a:spcPts val="200"/>
              </a:spcAft>
              <a:defRPr sz="1500">
                <a:solidFill>
                  <a:srgbClr val="DFECFA"/>
                </a:solidFill>
                <a:latin typeface="Cascadia Code"/>
              </a:defRPr>
            </a:pPr>
            <a:r>
              <a:t>    print(f"{key}: {value}")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258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1325880"/>
            <a:ext cx="73152" cy="132588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1472184"/>
            <a:ext cx="31272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Run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1892807"/>
            <a:ext cx="312724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python system_info.py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8803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0" y="2880360"/>
            <a:ext cx="73152" cy="132588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73568" y="3026664"/>
            <a:ext cx="31272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3447288"/>
            <a:ext cx="312724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Your PID changes each run; OS strings and available variables may differ.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43484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4434840"/>
            <a:ext cx="73152" cy="132588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4581144"/>
            <a:ext cx="31272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Discuss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5001768"/>
            <a:ext cx="312724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D3C"/>
                </a:solidFill>
                <a:latin typeface="Aptos"/>
              </a:defRPr>
            </a:pPr>
            <a:r>
              <a:t>Why might HOME be missing on Windows, or USERPROFILE be missing on Linux?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Student exercise: build your own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11E34"/>
                </a:solidFill>
                <a:latin typeface="Aptos"/>
              </a:defRPr>
            </a:pPr>
            <a:r>
              <a:t>Task: write a script that reports the required system information clearly.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5029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73152" cy="329184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020824"/>
            <a:ext cx="46817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41448"/>
            <a:ext cx="4681728" cy="2633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☐ Operating system / platform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☐ Python version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☐ Process ID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☐ Current working directory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☐ At least two selected environment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5029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874519"/>
            <a:ext cx="73152" cy="329184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020824"/>
            <a:ext cx="468172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Stretch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41448"/>
            <a:ext cx="4681728" cy="2633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Add the parent process ID.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Handle missing variables gracefully.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Print a clear title and section labels.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Save output to a text file.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t>• Explain which results may vary by 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2412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B741"/>
                </a:solidFill>
                <a:latin typeface="Aptos"/>
              </a:defRPr>
            </a:pPr>
            <a:r>
              <a:t>Timebox: 6 minutes to code, 3 minutes to compare outputs, 1 minute to explain one result.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Common mistakes and quick debugging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3566160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380744"/>
            <a:ext cx="31272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Wrong interpreter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01368"/>
            <a:ext cx="3127248" cy="29077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Symptom: unexpected Python version or import errors.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Check: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python --version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In VS Code, confirm the selected interpreter.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356616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80744"/>
            <a:ext cx="31272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Wrong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01368"/>
            <a:ext cx="3127248" cy="29077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Symptom: paths point somewhere unexpected.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Remember: os.getcwd() reports the shell’s working directory, not necessarily the script location.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23444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73152" cy="3566160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380744"/>
            <a:ext cx="312724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E34"/>
                </a:solidFill>
                <a:latin typeface="Aptos"/>
              </a:defRPr>
            </a:pPr>
            <a:r>
              <a:t>Missing 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801368"/>
            <a:ext cx="3127248" cy="29077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Symptom: a value is None or not set.</a:t>
            </a:r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t>Use os.environ.get(key, '&lt;not set&gt;') and avoid assuming every OS has the same variables.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424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11E34"/>
                </a:solidFill>
                <a:latin typeface="Aptos"/>
              </a:defRPr>
            </a:pPr>
            <a:r>
              <a:t>Debugging question: is this a Python problem, an OS difference, or simply a different environment?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1E34"/>
                </a:solidFill>
                <a:latin typeface="Aptos"/>
              </a:defRPr>
            </a:pPr>
            <a:r>
              <a:t>Exit ticket: explain it in your own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51560" cy="50292"/>
          </a:xfrm>
          <a:prstGeom prst="rect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310896"/>
            <a:ext cx="23317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2869B4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6868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F6E82"/>
                </a:solidFill>
                <a:latin typeface="Aptos"/>
              </a:defRPr>
            </a:pPr>
            <a:r>
              <a:t>SYSTEM PROGRAMMING  • 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234440"/>
            <a:ext cx="438912" cy="438912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289304"/>
            <a:ext cx="438912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216152"/>
            <a:ext cx="97840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What is one difference between system and application programming?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194560"/>
            <a:ext cx="438912" cy="438912"/>
          </a:xfrm>
          <a:prstGeom prst="ellipse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9424"/>
            <a:ext cx="438912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176272"/>
            <a:ext cx="97840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What is the difference between an OS API and a system call?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54680"/>
            <a:ext cx="438912" cy="438912"/>
          </a:xfrm>
          <a:prstGeom prst="ellipse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09544"/>
            <a:ext cx="438912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36392"/>
            <a:ext cx="97840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What is a PID, and why might it change between runs?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14800"/>
            <a:ext cx="438912" cy="438912"/>
          </a:xfrm>
          <a:prstGeom prst="ellipse">
            <a:avLst/>
          </a:prstGeom>
          <a:solidFill>
            <a:srgbClr val="32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169663"/>
            <a:ext cx="438912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096512"/>
            <a:ext cx="97840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t>Why should code use os.environ.get() instead of assuming a variable exists?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69B4"/>
                </a:solidFill>
                <a:latin typeface="Aptos"/>
              </a:defRPr>
            </a:pPr>
            <a:r>
              <a:t>Next session: using Python to work with processes and external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2501</Words>
  <Application>Microsoft Office PowerPoint</Application>
  <PresentationFormat>Widescreen</PresentationFormat>
  <Paragraphs>434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ahmadikatouli@gmail.com</cp:lastModifiedBy>
  <cp:revision>3</cp:revision>
  <dcterms:created xsi:type="dcterms:W3CDTF">2013-01-27T09:14:16Z</dcterms:created>
  <dcterms:modified xsi:type="dcterms:W3CDTF">2026-10-10T14:21:20Z</dcterms:modified>
  <cp:category/>
</cp:coreProperties>
</file>